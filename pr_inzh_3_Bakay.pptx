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72" r:id="rId14"/>
    <p:sldId id="273" r:id="rId15"/>
    <p:sldId id="265" r:id="rId16"/>
    <p:sldId id="266" r:id="rId17"/>
    <p:sldId id="267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92418" autoAdjust="0"/>
  </p:normalViewPr>
  <p:slideViewPr>
    <p:cSldViewPr snapToGrid="0" snapToObjects="1">
      <p:cViewPr varScale="1">
        <p:scale>
          <a:sx n="60" d="100"/>
          <a:sy n="60" d="100"/>
        </p:scale>
        <p:origin x="53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802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72D1-7AE7-734B-4684-BD9CEAB0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231E6-2BEF-5BC1-1F79-A34EF55A2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24C17-3111-1D3A-F9FB-C3BC8D074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93E55-7780-8683-7815-C80F0E113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47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7CCE3-519E-B030-9268-0B9A0FCD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C3D1C-81FF-3FD5-6D93-87FB8D8A5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B530A-2F08-E77F-F667-51FBCA75B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8C5B4-3DB6-1E35-1DA4-2328B38E3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34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711D1-656A-E0BC-6200-5F6AC4E68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C92E3-A241-5164-1BB0-91A0002EA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1F286-5240-ADE0-FD1D-D39C7E919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78886-7BE3-8DFE-D1B3-341BA344E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16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36BE-EC3E-F30F-346E-C1D3E6E1A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EA29A-C74D-8C24-8B60-A7C72276C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50050-8715-C60D-8F86-F6C762445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67A59-B2C9-643B-FC33-0484E5D5A4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26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C4BCC-D7AF-5E13-24FE-EF923050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F6F9B-2181-00F5-84F0-9EFB8AE9B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C484A-584C-6E76-5363-4B9B7203C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9E945-1583-7CDB-EE67-D4312CF36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52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D7E8A">
              <a:alpha val="25000"/>
            </a:srgbClr>
          </a:solidFill>
          <a:ln w="12700">
            <a:solidFill>
              <a:srgbClr val="0D7E8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822960"/>
            <a:ext cx="2286000" cy="2286000"/>
          </a:xfrm>
          <a:prstGeom prst="ellipse">
            <a:avLst/>
          </a:prstGeom>
          <a:solidFill>
            <a:srgbClr val="D4A830">
              <a:alpha val="20000"/>
            </a:srgbClr>
          </a:solidFill>
          <a:ln w="12700">
            <a:solidFill>
              <a:srgbClr val="D4A83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14A8B8">
              <a:alpha val="20000"/>
            </a:srgbClr>
          </a:solidFill>
          <a:ln w="12700">
            <a:solidFill>
              <a:srgbClr val="14A8B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ПРОЕКТ: №</a:t>
            </a:r>
            <a:r>
              <a:rPr lang="ru-RU" sz="1000" b="1" kern="0" spc="3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000" b="1" kern="0" spc="3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ПРОГРАММНАЯ ИНЖЕНЕРИЯ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7772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⚖️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BMI Калькулятор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Массы Тела — десктопное приложение на Python + Tkinter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1463040" cy="301752"/>
          </a:xfrm>
          <a:prstGeom prst="roundRect">
            <a:avLst>
              <a:gd name="adj" fmla="val 18182"/>
            </a:avLst>
          </a:prstGeom>
          <a:solidFill>
            <a:srgbClr val="0D7E8A">
              <a:alpha val="40000"/>
            </a:srgbClr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5468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154680"/>
            <a:ext cx="1463040" cy="301752"/>
          </a:xfrm>
          <a:prstGeom prst="roundRect">
            <a:avLst>
              <a:gd name="adj" fmla="val 18182"/>
            </a:avLst>
          </a:prstGeom>
          <a:solidFill>
            <a:srgbClr val="0D7E8A">
              <a:alpha val="40000"/>
            </a:srgbClr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15468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GUI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3154680"/>
            <a:ext cx="1463040" cy="301752"/>
          </a:xfrm>
          <a:prstGeom prst="roundRect">
            <a:avLst>
              <a:gd name="adj" fmla="val 18182"/>
            </a:avLst>
          </a:prstGeom>
          <a:solidFill>
            <a:srgbClr val="0D7E8A">
              <a:alpha val="40000"/>
            </a:srgbClr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15468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ИМТ / BMI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3154680"/>
            <a:ext cx="1463040" cy="301752"/>
          </a:xfrm>
          <a:prstGeom prst="roundRect">
            <a:avLst>
              <a:gd name="adj" fmla="val 18182"/>
            </a:avLst>
          </a:prstGeom>
          <a:solidFill>
            <a:srgbClr val="0D7E8A">
              <a:alpha val="40000"/>
            </a:srgbClr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15468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Project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8138160" cy="228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актуальность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создан этот проект?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актуальность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00200" y="1417320"/>
            <a:ext cx="640080" cy="640080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проекта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48716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десктопное приложение для расчёта Индекса Массы Тела (BMI) с графическим интерфейсом Tkinter, визуальной шкалой и категориями веса.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GUI-приложение без браузера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Визуальная шкала BMI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Учёт пола пользователя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Копирование результата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17320"/>
            <a:ext cx="640080" cy="64008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Актуальность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248716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— общепризнанный медицинский показатель. Приложение позволяет мгновенно рассчитать его без доступа к интернету, наглядно показывая категорию веса.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566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Практическая польза для здоровья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Отличный учебный GUI-проект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Нет внешних зависимостей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100% офлайн-работа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выполнения — выполнены все роли в одиночку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проекта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114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98448"/>
            <a:ext cx="438912" cy="438912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128016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предметной области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6916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Изучить медицинские стандарты BMI, определить цели и требования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05740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Изучены стандарты ВОЗ по ИМТ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Составлены функциональные требования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4114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298448"/>
            <a:ext cx="438912" cy="438912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13248" y="128016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Проектирование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6916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архитектуру класса, интерфейс и логику расчёта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05740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Определён класс BMICalculator и методы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Составлена диаграмма классов (UML)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4114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944368"/>
            <a:ext cx="438912" cy="438912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44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29260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337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GUI-приложение на Python 3.11 + Tkinter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7033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Реализован GUI на Python 3.11 + Tkinter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Каждая строка кода прокомментирована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4114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2944368"/>
            <a:ext cx="438912" cy="438912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944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13248" y="29260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Тестирование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337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весь функционал, составить тестовый отчёт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7033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Проведено тестирование — корректные значения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Граничные случаи обработаны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 и требования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Язык: Python 3.11  ·  GUI: Tkinter  ·  Без внешних зависимостей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 и требования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1234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1280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270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язык разработки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92808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18928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19385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1854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Стандартная GUI-библиотека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51176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255117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5968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tkinter.messagebox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84378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Диалоговые окна и ошибки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09544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32095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2552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Widget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5021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Отрисовка визуальной шкалы BMI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867912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" y="38679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⌨️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9136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Горячие клавиши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1605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Enter=рассчитать, Esc=очистить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23444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Функциональные требования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19472" y="1810512"/>
            <a:ext cx="182880" cy="182880"/>
          </a:xfrm>
          <a:prstGeom prst="ellipse">
            <a:avLst/>
          </a:prstGeom>
          <a:solidFill>
            <a:srgbClr val="14A8B8"/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веса (кг) и роста (см)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19472" y="2112264"/>
            <a:ext cx="182880" cy="182880"/>
          </a:xfrm>
          <a:prstGeom prst="ellipse">
            <a:avLst/>
          </a:prstGeom>
          <a:solidFill>
            <a:srgbClr val="14A8B8"/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пола (мужской / женский)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19472" y="2414016"/>
            <a:ext cx="182880" cy="182880"/>
          </a:xfrm>
          <a:prstGeom prst="ellipse">
            <a:avLst/>
          </a:prstGeom>
          <a:solidFill>
            <a:srgbClr val="14A8B8"/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2386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BMI по формуле: m / h²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19472" y="2715768"/>
            <a:ext cx="182880" cy="182880"/>
          </a:xfrm>
          <a:prstGeom prst="ellipse">
            <a:avLst/>
          </a:prstGeom>
          <a:solidFill>
            <a:srgbClr val="14A8B8"/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2688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категории (7 уровней)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19472" y="3017520"/>
            <a:ext cx="182880" cy="182880"/>
          </a:xfrm>
          <a:prstGeom prst="ellipse">
            <a:avLst/>
          </a:prstGeom>
          <a:solidFill>
            <a:srgbClr val="14A8B8"/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Визуальная цветовая шкала BMI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19472" y="3319272"/>
            <a:ext cx="182880" cy="182880"/>
          </a:xfrm>
          <a:prstGeom prst="ellipse">
            <a:avLst/>
          </a:prstGeom>
          <a:solidFill>
            <a:srgbClr val="14A8B8"/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Копирование результата в буфер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19472" y="3621024"/>
            <a:ext cx="182880" cy="182880"/>
          </a:xfrm>
          <a:prstGeom prst="ellipse">
            <a:avLst/>
          </a:prstGeom>
          <a:solidFill>
            <a:srgbClr val="14A8B8"/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Меню: таблица BMI, О программе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919472" y="3922776"/>
            <a:ext cx="182880" cy="182880"/>
          </a:xfrm>
          <a:prstGeom prst="ellipse">
            <a:avLst/>
          </a:prstGeom>
          <a:solidFill>
            <a:srgbClr val="14A8B8"/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6360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 ввода и сообщения об ошибках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19472" y="4224528"/>
            <a:ext cx="182880" cy="182880"/>
          </a:xfrm>
          <a:prstGeom prst="ellipse">
            <a:avLst/>
          </a:prstGeom>
          <a:solidFill>
            <a:srgbClr val="14A8B8"/>
          </a:solidFill>
          <a:ln w="12700">
            <a:solidFill>
              <a:srgbClr val="14A8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4197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Горячие клавиши: Enter / Escape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кода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класса и ключевые методы — Python 3.11 + Tkinter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кода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160520" cy="3429000"/>
          </a:xfrm>
          <a:prstGeom prst="roundRect">
            <a:avLst>
              <a:gd name="adj" fmla="val 2667"/>
            </a:avLst>
          </a:prstGeom>
          <a:solidFill>
            <a:srgbClr val="1A2B4A"/>
          </a:solidFill>
          <a:ln w="19050">
            <a:solidFill>
              <a:srgbClr val="0D7E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88720"/>
            <a:ext cx="4160520" cy="384048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9786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BMICalculator(tk.Tk)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6093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Атрибуты: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82880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 : tk.Tk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02996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gender_var : StringVar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23113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weight_entry : Entry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43230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height_entry : Entry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26334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result_label : Label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28346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scale_canvas : Canvas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30723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273552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__init__()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3429000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calculate_bmi()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35844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draw_scale(bmi)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1480" y="3739896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clear_fields()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1480" y="3895344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copy_result()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1480" y="4050792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show_bmi_table()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1480" y="4206240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exit_app()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" y="436168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run()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1188720"/>
            <a:ext cx="4206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1252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Инкапсуляция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элементы интерфейса — атрибуты класса; методы управляют состоянием.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057400"/>
            <a:ext cx="4206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2121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Единая ответственность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метод выполняет ровно одну задачу: расчёт, отрисовка, очистка, меню.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4206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00600" y="2990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Валидация ввода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calculate_bmi() проверяет диапазоны (1–500 кг, 1–250 см) и тип данных.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794760"/>
            <a:ext cx="4206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3858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Визуализация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draw_scale() отрисовывает цветную шкалу BMI с указателем на Canvas.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Диаграмма классов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UML-диаграмма — BMI_Calculator (Программная инженерия)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классов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8ECF0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88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«library»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tk.Tk  (tkinter)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965960"/>
            <a:ext cx="0" cy="457200"/>
          </a:xfrm>
          <a:prstGeom prst="line">
            <a:avLst/>
          </a:prstGeom>
          <a:noFill/>
          <a:ln w="19050">
            <a:solidFill>
              <a:srgbClr val="1A2B4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069080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наследует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0" y="2423160"/>
            <a:ext cx="3657600" cy="2148840"/>
          </a:xfrm>
          <a:prstGeom prst="roundRect">
            <a:avLst>
              <a:gd name="adj" fmla="val 3830"/>
            </a:avLst>
          </a:prstGeom>
          <a:solidFill>
            <a:srgbClr val="1A2B4A"/>
          </a:solidFill>
          <a:ln w="19050">
            <a:solidFill>
              <a:srgbClr val="0D7E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423160"/>
            <a:ext cx="3657600" cy="365760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BMICalculator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8163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window, gender_var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weight_entry, height_entry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result_label, scale_canvas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88920" y="3337560"/>
            <a:ext cx="3566160" cy="0"/>
          </a:xfrm>
          <a:prstGeom prst="line">
            <a:avLst/>
          </a:prstGeom>
          <a:noFill/>
          <a:ln w="10160">
            <a:solidFill>
              <a:srgbClr val="7A8B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calculate_bmi()  + draw_scale(bmi)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clear_fields()   + copy_result()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show_bmi_table() + show_about()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34640" y="3886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exit_app()  + run()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3200400"/>
            <a:ext cx="0" cy="0"/>
          </a:xfrm>
          <a:prstGeom prst="line">
            <a:avLst/>
          </a:prstGeom>
          <a:noFill/>
          <a:ln w="15240">
            <a:solidFill>
              <a:srgbClr val="0D7E8A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274320" y="283464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tk.Canvas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Визуальная шкала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«uses»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400800" y="3200400"/>
            <a:ext cx="1645920" cy="0"/>
          </a:xfrm>
          <a:prstGeom prst="line">
            <a:avLst/>
          </a:prstGeom>
          <a:noFill/>
          <a:ln w="15240">
            <a:solidFill>
              <a:srgbClr val="0D7E8A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6675120" y="283464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tk.StringVar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gender_var, display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23760" y="3246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«uses»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4572000"/>
            <a:ext cx="0" cy="0"/>
          </a:xfrm>
          <a:prstGeom prst="line">
            <a:avLst/>
          </a:prstGeom>
          <a:noFill/>
          <a:ln w="15240">
            <a:solidFill>
              <a:srgbClr val="D4A830"/>
            </a:solidFill>
            <a:prstDash val="sysDash"/>
          </a:ln>
        </p:spPr>
      </p:sp>
      <p:sp>
        <p:nvSpPr>
          <p:cNvPr id="29" name="Shape 27"/>
          <p:cNvSpPr/>
          <p:nvPr/>
        </p:nvSpPr>
        <p:spPr>
          <a:xfrm>
            <a:off x="3337560" y="4224528"/>
            <a:ext cx="24688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42245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tkinter.messagebox  «uses»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Функциональные требования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умеет приложение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требования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9844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ФТ-1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1271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Ввод данных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16002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 ввода для веса (кг) и роста (см) с валидацией диапазонов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29844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ФТ-2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32120" y="1271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 пола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16002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Радиокнопки «Мужской» / «Женский» — влияет на интерпретацию BMI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05740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16712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ФТ-3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2139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Расчёт BMI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24688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«Рассчитать»: BMI = вес(кг) ÷ рост(м)², результат округляется до 0.1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16712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ФТ-4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2139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Категория веса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46320" y="24688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категорий от «Выраженный дефицит» до «Ожирение 3 степени» с цветовым кодом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03580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0358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ФТ-5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008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Визуальная шкала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11480" y="3337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Canvas-виджет рисует цветную шкалу 0–40 с указателем на текущем значении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92608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03580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0358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ФТ-6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32120" y="3008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Копирование результата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46320" y="3337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 → «Копировать результат» сохраняет BMI и категорию в буфер обмена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79476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90448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9044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ФТ-7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7280" y="3877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Очистка полей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11480" y="42062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«Очистить» и клавиша Escape сбрасывают все поля и шкалу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379476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90448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9044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ФТ-8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32120" y="3877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Горячие клавиши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846320" y="42062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— рассчитать, Escape — очистить. Работают из любого поля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 приложения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 главного окна — BMI Калькулятор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приложения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5112" y="1184148"/>
            <a:ext cx="3271025" cy="3337560"/>
          </a:xfrm>
          <a:prstGeom prst="roundRect">
            <a:avLst>
              <a:gd name="adj" fmla="val 3288"/>
            </a:avLst>
          </a:prstGeom>
          <a:solidFill>
            <a:srgbClr val="E8ECF0"/>
          </a:solidFill>
          <a:ln w="12700">
            <a:solidFill>
              <a:srgbClr val="7A8BA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0" y="1234440"/>
            <a:ext cx="4906537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5912" y="124607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пола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38168" y="2211603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 ввода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/ рост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78312" y="3144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94449" y="3590507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категория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94449" y="2153579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Цветовая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7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шкала BMI</a:t>
            </a:r>
            <a:endParaRPr lang="en-US" sz="85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44A0D2E-F4E4-30C8-5325-93B99E192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423" y="1228097"/>
            <a:ext cx="2195051" cy="31591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#1 — Нормальный BMI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корректных данных → расчёт и категория «Нормальный вес»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Входные данные и результат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кг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965960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 см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267712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276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2276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Мужской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69464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BMI: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871216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Ожидаемая категория: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Нормальный вес 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172968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Полученный BMI: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Полученная категория: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06040" y="3483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Нормальный вес ✅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82219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8221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СТАТУС: ПРОЙДЕН ✓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118872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E8ECF0"/>
          </a:solidFill>
          <a:ln w="12700">
            <a:solidFill>
              <a:srgbClr val="7A8BA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663440" y="11887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Место для скриншота ]</a:t>
            </a:r>
            <a:endParaRPr lang="en-US" sz="140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7E47F6A-F250-B159-02B2-114364A22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508" y="1257460"/>
            <a:ext cx="3003395" cy="3264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BC153-B89D-E82B-B711-941E0EE4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12FF08-3542-A4F6-EFD8-D31EB9D748EF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EF779E-63F7-8A8B-7544-3E009BBACE4E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2F2BC3-1877-74FF-9286-439732014F51}"/>
              </a:ext>
            </a:extLst>
          </p:cNvPr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Обработка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ошибок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DDC8CB5-D71A-C29A-FA10-7D7B7E1195F2}"/>
              </a:ext>
            </a:extLst>
          </p:cNvPr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корректных данных → расчёт и категория «Нормальный вес»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EE67F9-8017-F663-B5D6-170861279B79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9DC5BB-2491-8522-BC4C-27CC02FEE7DA}"/>
              </a:ext>
            </a:extLst>
          </p:cNvPr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ACC3729-CD29-9C3D-1B25-0751F857832C}"/>
              </a:ext>
            </a:extLst>
          </p:cNvPr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25D8C8D-91B9-E936-17D7-D158DC9A892E}"/>
              </a:ext>
            </a:extLst>
          </p:cNvPr>
          <p:cNvSpPr/>
          <p:nvPr/>
        </p:nvSpPr>
        <p:spPr>
          <a:xfrm>
            <a:off x="274320" y="118872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3207CDF-63D9-E49C-3EC4-297E7E8C3195}"/>
              </a:ext>
            </a:extLst>
          </p:cNvPr>
          <p:cNvSpPr/>
          <p:nvPr/>
        </p:nvSpPr>
        <p:spPr>
          <a:xfrm>
            <a:off x="41148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Входные данные и результат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B3B8E6D-2D83-3240-9A62-60E3D12AB82E}"/>
              </a:ext>
            </a:extLst>
          </p:cNvPr>
          <p:cNvSpPr/>
          <p:nvPr/>
        </p:nvSpPr>
        <p:spPr>
          <a:xfrm>
            <a:off x="320040" y="1664208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50B48C7-C932-AA2F-773E-AAFCB8A81702}"/>
              </a:ext>
            </a:extLst>
          </p:cNvPr>
          <p:cNvSpPr/>
          <p:nvPr/>
        </p:nvSpPr>
        <p:spPr>
          <a:xfrm>
            <a:off x="41148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Вес: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CC837D7-2C1B-46A5-B571-EBE427EA02A0}"/>
              </a:ext>
            </a:extLst>
          </p:cNvPr>
          <p:cNvSpPr/>
          <p:nvPr/>
        </p:nvSpPr>
        <p:spPr>
          <a:xfrm>
            <a:off x="260604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кг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8C2BF6C-2E74-34DD-1926-AE4EF6B5330C}"/>
              </a:ext>
            </a:extLst>
          </p:cNvPr>
          <p:cNvSpPr/>
          <p:nvPr/>
        </p:nvSpPr>
        <p:spPr>
          <a:xfrm>
            <a:off x="320040" y="1965960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3066CA1-B335-112B-F365-408714CC976B}"/>
              </a:ext>
            </a:extLst>
          </p:cNvPr>
          <p:cNvSpPr/>
          <p:nvPr/>
        </p:nvSpPr>
        <p:spPr>
          <a:xfrm>
            <a:off x="41148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Рост: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C2B5435-9502-20C7-55AB-1660105CBFE7}"/>
              </a:ext>
            </a:extLst>
          </p:cNvPr>
          <p:cNvSpPr/>
          <p:nvPr/>
        </p:nvSpPr>
        <p:spPr>
          <a:xfrm>
            <a:off x="2606040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 см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2F03A13-39CE-A03C-9DE2-FEC4B1394165}"/>
              </a:ext>
            </a:extLst>
          </p:cNvPr>
          <p:cNvSpPr/>
          <p:nvPr/>
        </p:nvSpPr>
        <p:spPr>
          <a:xfrm>
            <a:off x="320040" y="2267712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4A111EA-3807-22B4-28B6-D36AF92F81CC}"/>
              </a:ext>
            </a:extLst>
          </p:cNvPr>
          <p:cNvSpPr/>
          <p:nvPr/>
        </p:nvSpPr>
        <p:spPr>
          <a:xfrm>
            <a:off x="411480" y="2276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Пол: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4459842-E99E-6460-4A05-3BA4413DD85F}"/>
              </a:ext>
            </a:extLst>
          </p:cNvPr>
          <p:cNvSpPr/>
          <p:nvPr/>
        </p:nvSpPr>
        <p:spPr>
          <a:xfrm>
            <a:off x="2606040" y="2276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Мужской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70D63A8-0E58-7FBE-314C-FCF5249200BC}"/>
              </a:ext>
            </a:extLst>
          </p:cNvPr>
          <p:cNvSpPr/>
          <p:nvPr/>
        </p:nvSpPr>
        <p:spPr>
          <a:xfrm>
            <a:off x="320040" y="2569464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758574E-7880-613E-7BBB-7C533819D5F0}"/>
              </a:ext>
            </a:extLst>
          </p:cNvPr>
          <p:cNvSpPr/>
          <p:nvPr/>
        </p:nvSpPr>
        <p:spPr>
          <a:xfrm>
            <a:off x="41148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BMI: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1BE9A77-5620-F233-D9A5-B1E0C24CDCFD}"/>
              </a:ext>
            </a:extLst>
          </p:cNvPr>
          <p:cNvSpPr/>
          <p:nvPr/>
        </p:nvSpPr>
        <p:spPr>
          <a:xfrm>
            <a:off x="260604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932B9B7-3A3E-BD18-1ED2-EB3BD90F008C}"/>
              </a:ext>
            </a:extLst>
          </p:cNvPr>
          <p:cNvSpPr/>
          <p:nvPr/>
        </p:nvSpPr>
        <p:spPr>
          <a:xfrm>
            <a:off x="320040" y="2871216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3644354-D8B3-52D9-7F1F-1571C929C7CD}"/>
              </a:ext>
            </a:extLst>
          </p:cNvPr>
          <p:cNvSpPr/>
          <p:nvPr/>
        </p:nvSpPr>
        <p:spPr>
          <a:xfrm>
            <a:off x="4114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Ожидаемая категория: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43A9C0C-04D6-1CE6-F0C9-5D391B7CB13D}"/>
              </a:ext>
            </a:extLst>
          </p:cNvPr>
          <p:cNvSpPr/>
          <p:nvPr/>
        </p:nvSpPr>
        <p:spPr>
          <a:xfrm>
            <a:off x="26060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некорректный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97BAD64-E789-F07A-C2DB-EA45BAC0C138}"/>
              </a:ext>
            </a:extLst>
          </p:cNvPr>
          <p:cNvSpPr/>
          <p:nvPr/>
        </p:nvSpPr>
        <p:spPr>
          <a:xfrm>
            <a:off x="320040" y="3172968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1258132-FC1B-8B73-298F-3B4C85FAE27F}"/>
              </a:ext>
            </a:extLst>
          </p:cNvPr>
          <p:cNvSpPr/>
          <p:nvPr/>
        </p:nvSpPr>
        <p:spPr>
          <a:xfrm>
            <a:off x="41148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Полученный BMI: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E122C73-4289-3609-87DA-21729A1F0558}"/>
              </a:ext>
            </a:extLst>
          </p:cNvPr>
          <p:cNvSpPr/>
          <p:nvPr/>
        </p:nvSpPr>
        <p:spPr>
          <a:xfrm>
            <a:off x="260604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4D38CE2-6D7B-0838-30A2-146D2514C8DF}"/>
              </a:ext>
            </a:extLst>
          </p:cNvPr>
          <p:cNvSpPr/>
          <p:nvPr/>
        </p:nvSpPr>
        <p:spPr>
          <a:xfrm>
            <a:off x="320040" y="3474720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37E51F7-5468-5E80-C473-AB2646A04FCF}"/>
              </a:ext>
            </a:extLst>
          </p:cNvPr>
          <p:cNvSpPr/>
          <p:nvPr/>
        </p:nvSpPr>
        <p:spPr>
          <a:xfrm>
            <a:off x="411480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Полученная категория: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BEF73D7-FAF2-CFF9-32CC-C9E0DF022786}"/>
              </a:ext>
            </a:extLst>
          </p:cNvPr>
          <p:cNvSpPr/>
          <p:nvPr/>
        </p:nvSpPr>
        <p:spPr>
          <a:xfrm>
            <a:off x="2606040" y="3483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некорректный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D07784C-75E5-771A-518C-E0D9D249003E}"/>
              </a:ext>
            </a:extLst>
          </p:cNvPr>
          <p:cNvSpPr/>
          <p:nvPr/>
        </p:nvSpPr>
        <p:spPr>
          <a:xfrm>
            <a:off x="411480" y="382219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C74A1FD-478D-AAC8-4BF9-0CF014AFDAC7}"/>
              </a:ext>
            </a:extLst>
          </p:cNvPr>
          <p:cNvSpPr/>
          <p:nvPr/>
        </p:nvSpPr>
        <p:spPr>
          <a:xfrm>
            <a:off x="411480" y="38221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СТАТУС: ПРОЙДЕН ✓</a:t>
            </a:r>
            <a:endParaRPr lang="en-US" sz="15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4E1770E-84DD-6813-56C7-5B14526AD626}"/>
              </a:ext>
            </a:extLst>
          </p:cNvPr>
          <p:cNvSpPr/>
          <p:nvPr/>
        </p:nvSpPr>
        <p:spPr>
          <a:xfrm>
            <a:off x="4663440" y="118872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E8ECF0"/>
          </a:solidFill>
          <a:ln w="12700">
            <a:solidFill>
              <a:srgbClr val="7A8BA0"/>
            </a:solidFill>
            <a:prstDash val="dash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9335C1B-5CBF-90F9-D50D-B1045C7F4BBC}"/>
              </a:ext>
            </a:extLst>
          </p:cNvPr>
          <p:cNvSpPr/>
          <p:nvPr/>
        </p:nvSpPr>
        <p:spPr>
          <a:xfrm>
            <a:off x="4663440" y="11887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Место для скриншота ]</a:t>
            </a:r>
            <a:endParaRPr lang="en-US" sz="1400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CA84126-A718-CAB7-D113-28942618D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291" y="1383672"/>
            <a:ext cx="4098538" cy="285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919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16140-A158-D8C0-1EB8-9FECFDBA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167EB7-5FCE-FDFD-D1B6-93D69119100D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BDD65D-C879-E825-B065-D0908D357FAD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F3C9EB-8211-5B5C-B58D-078ACF745CBA}"/>
              </a:ext>
            </a:extLst>
          </p:cNvPr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#</a:t>
            </a:r>
            <a:r>
              <a:rPr lang="ru-RU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Обработка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ошибок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540751-C2EA-7072-E4A9-9D46A787147A}"/>
              </a:ext>
            </a:extLst>
          </p:cNvPr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корректных данных → расчёт и категория «Нормальный вес»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2CD8427-04A8-1408-7528-79F5C3D6A68C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578079-7851-F76F-9A54-C42D8B2782ED}"/>
              </a:ext>
            </a:extLst>
          </p:cNvPr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DD6112F-0C7D-3F24-C2A6-E2E09675295F}"/>
              </a:ext>
            </a:extLst>
          </p:cNvPr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B1D6F86-FAE0-545F-A75D-806CBEBB0D8E}"/>
              </a:ext>
            </a:extLst>
          </p:cNvPr>
          <p:cNvSpPr/>
          <p:nvPr/>
        </p:nvSpPr>
        <p:spPr>
          <a:xfrm>
            <a:off x="274320" y="118872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70C0FB4-7C5B-2A70-E6FB-AEDCFAC20224}"/>
              </a:ext>
            </a:extLst>
          </p:cNvPr>
          <p:cNvSpPr/>
          <p:nvPr/>
        </p:nvSpPr>
        <p:spPr>
          <a:xfrm>
            <a:off x="41148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Входные данные и результат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061E871-A5F2-CDFC-1293-00732B109BB7}"/>
              </a:ext>
            </a:extLst>
          </p:cNvPr>
          <p:cNvSpPr/>
          <p:nvPr/>
        </p:nvSpPr>
        <p:spPr>
          <a:xfrm>
            <a:off x="320040" y="1664208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0CD7102-46F6-20A1-1931-2D60F34520BD}"/>
              </a:ext>
            </a:extLst>
          </p:cNvPr>
          <p:cNvSpPr/>
          <p:nvPr/>
        </p:nvSpPr>
        <p:spPr>
          <a:xfrm>
            <a:off x="41148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Вес: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1391757-B16C-DE56-ECD9-9577930A4487}"/>
              </a:ext>
            </a:extLst>
          </p:cNvPr>
          <p:cNvSpPr/>
          <p:nvPr/>
        </p:nvSpPr>
        <p:spPr>
          <a:xfrm>
            <a:off x="260604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</a:t>
            </a: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кг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3E0DD97-A267-2679-79A3-A3B071E1BECF}"/>
              </a:ext>
            </a:extLst>
          </p:cNvPr>
          <p:cNvSpPr/>
          <p:nvPr/>
        </p:nvSpPr>
        <p:spPr>
          <a:xfrm>
            <a:off x="320040" y="1965960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F13C77-7242-F390-026D-06E3A78CCF3B}"/>
              </a:ext>
            </a:extLst>
          </p:cNvPr>
          <p:cNvSpPr/>
          <p:nvPr/>
        </p:nvSpPr>
        <p:spPr>
          <a:xfrm>
            <a:off x="41148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Рост: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2DE6D4E-FF64-4779-0C3E-CC27BEF85E0E}"/>
              </a:ext>
            </a:extLst>
          </p:cNvPr>
          <p:cNvSpPr/>
          <p:nvPr/>
        </p:nvSpPr>
        <p:spPr>
          <a:xfrm>
            <a:off x="2606040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 см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2D6422D-FD8A-3AB0-7C3A-93C7D3E8AC39}"/>
              </a:ext>
            </a:extLst>
          </p:cNvPr>
          <p:cNvSpPr/>
          <p:nvPr/>
        </p:nvSpPr>
        <p:spPr>
          <a:xfrm>
            <a:off x="320040" y="2267712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84DE91F-7977-9A35-A3B3-9294E862B9CB}"/>
              </a:ext>
            </a:extLst>
          </p:cNvPr>
          <p:cNvSpPr/>
          <p:nvPr/>
        </p:nvSpPr>
        <p:spPr>
          <a:xfrm>
            <a:off x="411480" y="2276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Пол: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93C0BB3-5EE8-3858-8CAE-7EC691B4C76F}"/>
              </a:ext>
            </a:extLst>
          </p:cNvPr>
          <p:cNvSpPr/>
          <p:nvPr/>
        </p:nvSpPr>
        <p:spPr>
          <a:xfrm>
            <a:off x="2606040" y="2276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Мужской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FD82DC3-228F-2834-203B-C3B8E0DDB5C9}"/>
              </a:ext>
            </a:extLst>
          </p:cNvPr>
          <p:cNvSpPr/>
          <p:nvPr/>
        </p:nvSpPr>
        <p:spPr>
          <a:xfrm>
            <a:off x="320040" y="2569464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8327AFE-7179-33C5-5078-3D9D476B21A0}"/>
              </a:ext>
            </a:extLst>
          </p:cNvPr>
          <p:cNvSpPr/>
          <p:nvPr/>
        </p:nvSpPr>
        <p:spPr>
          <a:xfrm>
            <a:off x="41148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BMI: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4D62B56-F380-D1A5-41B9-3F31813CE239}"/>
              </a:ext>
            </a:extLst>
          </p:cNvPr>
          <p:cNvSpPr/>
          <p:nvPr/>
        </p:nvSpPr>
        <p:spPr>
          <a:xfrm>
            <a:off x="260604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89C7D48-00E1-7778-1648-0A6BCB6A8829}"/>
              </a:ext>
            </a:extLst>
          </p:cNvPr>
          <p:cNvSpPr/>
          <p:nvPr/>
        </p:nvSpPr>
        <p:spPr>
          <a:xfrm>
            <a:off x="320040" y="2871216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D52E194-E371-5FB9-52F1-15A943305AB1}"/>
              </a:ext>
            </a:extLst>
          </p:cNvPr>
          <p:cNvSpPr/>
          <p:nvPr/>
        </p:nvSpPr>
        <p:spPr>
          <a:xfrm>
            <a:off x="4114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Ожидаемая категория: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DCAE873-0EDE-3F60-AA74-59B11A68197A}"/>
              </a:ext>
            </a:extLst>
          </p:cNvPr>
          <p:cNvSpPr/>
          <p:nvPr/>
        </p:nvSpPr>
        <p:spPr>
          <a:xfrm>
            <a:off x="26060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введите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числа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F5F9C71-1522-4CB3-074E-FD6953D66259}"/>
              </a:ext>
            </a:extLst>
          </p:cNvPr>
          <p:cNvSpPr/>
          <p:nvPr/>
        </p:nvSpPr>
        <p:spPr>
          <a:xfrm>
            <a:off x="320040" y="3172968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7C104E3-3E3C-BBB3-19D1-F6D4DA4AE269}"/>
              </a:ext>
            </a:extLst>
          </p:cNvPr>
          <p:cNvSpPr/>
          <p:nvPr/>
        </p:nvSpPr>
        <p:spPr>
          <a:xfrm>
            <a:off x="41148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Полученный BMI: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8999E25-2292-34BC-C814-7F5B067DB199}"/>
              </a:ext>
            </a:extLst>
          </p:cNvPr>
          <p:cNvSpPr/>
          <p:nvPr/>
        </p:nvSpPr>
        <p:spPr>
          <a:xfrm>
            <a:off x="260604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67B986D-A35A-5FEE-25D7-66EE28FA5E6E}"/>
              </a:ext>
            </a:extLst>
          </p:cNvPr>
          <p:cNvSpPr/>
          <p:nvPr/>
        </p:nvSpPr>
        <p:spPr>
          <a:xfrm>
            <a:off x="331563" y="3465576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CA7BE45-131C-9DD5-383E-4D19B95EE291}"/>
              </a:ext>
            </a:extLst>
          </p:cNvPr>
          <p:cNvSpPr/>
          <p:nvPr/>
        </p:nvSpPr>
        <p:spPr>
          <a:xfrm>
            <a:off x="411480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Полученная категория: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688EC7C-6B9D-4EF2-8D46-E39DD69ECD8F}"/>
              </a:ext>
            </a:extLst>
          </p:cNvPr>
          <p:cNvSpPr/>
          <p:nvPr/>
        </p:nvSpPr>
        <p:spPr>
          <a:xfrm>
            <a:off x="2606040" y="3483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введите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числа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41CC904-0380-C4D6-91D8-2ADB4805528A}"/>
              </a:ext>
            </a:extLst>
          </p:cNvPr>
          <p:cNvSpPr/>
          <p:nvPr/>
        </p:nvSpPr>
        <p:spPr>
          <a:xfrm>
            <a:off x="411480" y="382219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79AC69E-B45E-DF8C-A332-A3F48DA472D4}"/>
              </a:ext>
            </a:extLst>
          </p:cNvPr>
          <p:cNvSpPr/>
          <p:nvPr/>
        </p:nvSpPr>
        <p:spPr>
          <a:xfrm>
            <a:off x="411480" y="38221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СТАТУС: ПРОЙДЕН ✓</a:t>
            </a:r>
            <a:endParaRPr lang="en-US" sz="15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EC86C81-6459-2100-9160-6070CEA0CDCD}"/>
              </a:ext>
            </a:extLst>
          </p:cNvPr>
          <p:cNvSpPr/>
          <p:nvPr/>
        </p:nvSpPr>
        <p:spPr>
          <a:xfrm>
            <a:off x="4663440" y="118872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E8ECF0"/>
          </a:solidFill>
          <a:ln w="12700">
            <a:solidFill>
              <a:srgbClr val="7A8BA0"/>
            </a:solidFill>
            <a:prstDash val="dash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432108A-83D5-E90D-F2DF-F21B2AA56AFF}"/>
              </a:ext>
            </a:extLst>
          </p:cNvPr>
          <p:cNvSpPr/>
          <p:nvPr/>
        </p:nvSpPr>
        <p:spPr>
          <a:xfrm>
            <a:off x="4663440" y="11887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Место для скриншота ]</a:t>
            </a:r>
            <a:endParaRPr lang="en-US" sz="1400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D026F34-B0A1-B62B-0FC9-A96B15B13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089" y="1339771"/>
            <a:ext cx="4110969" cy="312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37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BA98E-980F-B25F-A3E3-A2D0C44A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E1D7F1-C719-336F-B08D-51FFAFBB5B8E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24AB77-EACA-9ABF-BCD3-D4F6660F85BC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1678C4-C1FC-08DC-9CAF-E7624FF0A931}"/>
              </a:ext>
            </a:extLst>
          </p:cNvPr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#</a:t>
            </a:r>
            <a:r>
              <a:rPr lang="ru-RU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Обработка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ошибок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B2FD66-DA9A-76C5-56A0-88F48F110152}"/>
              </a:ext>
            </a:extLst>
          </p:cNvPr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корректных данных → расчёт и категория «Нормальный вес»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036936E-0E0C-D834-912A-2D82630C88F8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D0B9C40-5C0B-5BC9-6EBC-FEA7B7D53DD9}"/>
              </a:ext>
            </a:extLst>
          </p:cNvPr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1D5067-6E8C-4A9B-52F5-50E9BF32C5F7}"/>
              </a:ext>
            </a:extLst>
          </p:cNvPr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B6F32AE-65C7-DA83-4521-C43161E248FC}"/>
              </a:ext>
            </a:extLst>
          </p:cNvPr>
          <p:cNvSpPr/>
          <p:nvPr/>
        </p:nvSpPr>
        <p:spPr>
          <a:xfrm>
            <a:off x="274320" y="118872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1168B1-4A7A-153E-9C92-F088C6C56B47}"/>
              </a:ext>
            </a:extLst>
          </p:cNvPr>
          <p:cNvSpPr/>
          <p:nvPr/>
        </p:nvSpPr>
        <p:spPr>
          <a:xfrm>
            <a:off x="41148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Входные данные и результат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1EFC9EB-0EDA-E6F4-8E34-91933C1D440B}"/>
              </a:ext>
            </a:extLst>
          </p:cNvPr>
          <p:cNvSpPr/>
          <p:nvPr/>
        </p:nvSpPr>
        <p:spPr>
          <a:xfrm>
            <a:off x="320040" y="1664208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65A16B5-73A8-DF3B-EF77-E03CE16F31C5}"/>
              </a:ext>
            </a:extLst>
          </p:cNvPr>
          <p:cNvSpPr/>
          <p:nvPr/>
        </p:nvSpPr>
        <p:spPr>
          <a:xfrm>
            <a:off x="41148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Вес: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934948E-DEFD-0F40-FC93-0EF2911ACA50}"/>
              </a:ext>
            </a:extLst>
          </p:cNvPr>
          <p:cNvSpPr/>
          <p:nvPr/>
        </p:nvSpPr>
        <p:spPr>
          <a:xfrm>
            <a:off x="260604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кг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CDCB2B0-C2B2-FBA5-525F-471B05B8C683}"/>
              </a:ext>
            </a:extLst>
          </p:cNvPr>
          <p:cNvSpPr/>
          <p:nvPr/>
        </p:nvSpPr>
        <p:spPr>
          <a:xfrm>
            <a:off x="320040" y="1965960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0C6847-EE35-A257-DAD8-9EEA723DC1BE}"/>
              </a:ext>
            </a:extLst>
          </p:cNvPr>
          <p:cNvSpPr/>
          <p:nvPr/>
        </p:nvSpPr>
        <p:spPr>
          <a:xfrm>
            <a:off x="41148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Рост: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1093C7B-A2E6-7C64-F7BE-5AD00C2961EC}"/>
              </a:ext>
            </a:extLst>
          </p:cNvPr>
          <p:cNvSpPr/>
          <p:nvPr/>
        </p:nvSpPr>
        <p:spPr>
          <a:xfrm>
            <a:off x="2606040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см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DAA6047-225C-0E8E-753B-F631B1848B9E}"/>
              </a:ext>
            </a:extLst>
          </p:cNvPr>
          <p:cNvSpPr/>
          <p:nvPr/>
        </p:nvSpPr>
        <p:spPr>
          <a:xfrm>
            <a:off x="320040" y="2267712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8E45BEC-BAB8-F0D9-3842-1C9E2EE5E613}"/>
              </a:ext>
            </a:extLst>
          </p:cNvPr>
          <p:cNvSpPr/>
          <p:nvPr/>
        </p:nvSpPr>
        <p:spPr>
          <a:xfrm>
            <a:off x="411480" y="2276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Пол: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510C243-A1DA-985C-584B-1EABE8A2C43D}"/>
              </a:ext>
            </a:extLst>
          </p:cNvPr>
          <p:cNvSpPr/>
          <p:nvPr/>
        </p:nvSpPr>
        <p:spPr>
          <a:xfrm>
            <a:off x="2606040" y="2276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Мужской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9AD3D18-47E0-9999-F196-560D9CBCBD18}"/>
              </a:ext>
            </a:extLst>
          </p:cNvPr>
          <p:cNvSpPr/>
          <p:nvPr/>
        </p:nvSpPr>
        <p:spPr>
          <a:xfrm>
            <a:off x="320040" y="2569464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3D1AE1B-EC68-41B5-67C7-C1E90BEF5DFB}"/>
              </a:ext>
            </a:extLst>
          </p:cNvPr>
          <p:cNvSpPr/>
          <p:nvPr/>
        </p:nvSpPr>
        <p:spPr>
          <a:xfrm>
            <a:off x="41148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BMI: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123500C-A498-64F2-515B-FD23FDE9F955}"/>
              </a:ext>
            </a:extLst>
          </p:cNvPr>
          <p:cNvSpPr/>
          <p:nvPr/>
        </p:nvSpPr>
        <p:spPr>
          <a:xfrm>
            <a:off x="260604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4378EE3-BA99-75C6-1C39-D4CA49A8A67E}"/>
              </a:ext>
            </a:extLst>
          </p:cNvPr>
          <p:cNvSpPr/>
          <p:nvPr/>
        </p:nvSpPr>
        <p:spPr>
          <a:xfrm>
            <a:off x="320040" y="2871216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FA42FFB-774A-AEB8-1600-3D332142B33C}"/>
              </a:ext>
            </a:extLst>
          </p:cNvPr>
          <p:cNvSpPr/>
          <p:nvPr/>
        </p:nvSpPr>
        <p:spPr>
          <a:xfrm>
            <a:off x="4114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Ожидаемая категория: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4A53512-C182-4358-C4BE-FA7001988F97}"/>
              </a:ext>
            </a:extLst>
          </p:cNvPr>
          <p:cNvSpPr/>
          <p:nvPr/>
        </p:nvSpPr>
        <p:spPr>
          <a:xfrm>
            <a:off x="26060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некорректный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3FCEC11-C240-6FF1-BFB4-27EDC0C8387A}"/>
              </a:ext>
            </a:extLst>
          </p:cNvPr>
          <p:cNvSpPr/>
          <p:nvPr/>
        </p:nvSpPr>
        <p:spPr>
          <a:xfrm>
            <a:off x="320040" y="3172968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AB809A7-A048-BD29-D1E9-AFF51BB06B7E}"/>
              </a:ext>
            </a:extLst>
          </p:cNvPr>
          <p:cNvSpPr/>
          <p:nvPr/>
        </p:nvSpPr>
        <p:spPr>
          <a:xfrm>
            <a:off x="41148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Полученный BMI: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F11CDF6-2BE2-8E6A-C764-8DBBF6BBD833}"/>
              </a:ext>
            </a:extLst>
          </p:cNvPr>
          <p:cNvSpPr/>
          <p:nvPr/>
        </p:nvSpPr>
        <p:spPr>
          <a:xfrm>
            <a:off x="260604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A026483-4BF4-A634-B07F-90722051DE3A}"/>
              </a:ext>
            </a:extLst>
          </p:cNvPr>
          <p:cNvSpPr/>
          <p:nvPr/>
        </p:nvSpPr>
        <p:spPr>
          <a:xfrm>
            <a:off x="320040" y="3474720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C329A9F-3D90-BCE2-A5A2-2A70B0CA5465}"/>
              </a:ext>
            </a:extLst>
          </p:cNvPr>
          <p:cNvSpPr/>
          <p:nvPr/>
        </p:nvSpPr>
        <p:spPr>
          <a:xfrm>
            <a:off x="411480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Полученная категория: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C9B69A5-0E90-74B0-243A-EE392E215018}"/>
              </a:ext>
            </a:extLst>
          </p:cNvPr>
          <p:cNvSpPr/>
          <p:nvPr/>
        </p:nvSpPr>
        <p:spPr>
          <a:xfrm>
            <a:off x="2606040" y="3483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некорректный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00D772D-D081-56F2-8DF6-6B2534AB14D5}"/>
              </a:ext>
            </a:extLst>
          </p:cNvPr>
          <p:cNvSpPr/>
          <p:nvPr/>
        </p:nvSpPr>
        <p:spPr>
          <a:xfrm>
            <a:off x="411480" y="382219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F8CE7CE-4E11-FEBD-2457-8F58DAD0F9BE}"/>
              </a:ext>
            </a:extLst>
          </p:cNvPr>
          <p:cNvSpPr/>
          <p:nvPr/>
        </p:nvSpPr>
        <p:spPr>
          <a:xfrm>
            <a:off x="411480" y="38221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СТАТУС: ПРОЙДЕН ✓</a:t>
            </a:r>
            <a:endParaRPr lang="en-US" sz="15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3CC8871-0563-9AA0-FB74-874CF470776E}"/>
              </a:ext>
            </a:extLst>
          </p:cNvPr>
          <p:cNvSpPr/>
          <p:nvPr/>
        </p:nvSpPr>
        <p:spPr>
          <a:xfrm>
            <a:off x="4663440" y="118872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E8ECF0"/>
          </a:solidFill>
          <a:ln w="12700">
            <a:solidFill>
              <a:srgbClr val="7A8BA0"/>
            </a:solidFill>
            <a:prstDash val="dash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F328BFE-76E6-9AC7-8698-DB119BAEF9BB}"/>
              </a:ext>
            </a:extLst>
          </p:cNvPr>
          <p:cNvSpPr/>
          <p:nvPr/>
        </p:nvSpPr>
        <p:spPr>
          <a:xfrm>
            <a:off x="4663440" y="11887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Место для скриншота ]</a:t>
            </a:r>
            <a:endParaRPr lang="en-US" sz="1400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04A7354-AE44-D50B-8752-3FE20AB7F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083" y="1307592"/>
            <a:ext cx="4086877" cy="30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99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6C5EF-D0E4-D65B-B738-E541F9D3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9A910D-40A6-71A3-21AA-B22D7AD89B65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520362-52DE-52CC-C652-D5316DBD5694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6273C0-677D-85C7-B6AB-011AFE65A328}"/>
              </a:ext>
            </a:extLst>
          </p:cNvPr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#</a:t>
            </a:r>
            <a:r>
              <a:rPr lang="ru-RU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Обработка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ошибок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FA2C30-8186-F855-35BB-65855B34C4D0}"/>
              </a:ext>
            </a:extLst>
          </p:cNvPr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корректных данных → расчёт и категория «Нормальный вес»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F7D897D-B90B-6316-A2DE-4F93DBD9462B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740881-ABE6-726B-CF70-5993ED957D78}"/>
              </a:ext>
            </a:extLst>
          </p:cNvPr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216BCA-58BA-4E79-24FE-A73A91041C93}"/>
              </a:ext>
            </a:extLst>
          </p:cNvPr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337429D-4DCD-2CA6-B212-D9A4B7B6EA5E}"/>
              </a:ext>
            </a:extLst>
          </p:cNvPr>
          <p:cNvSpPr/>
          <p:nvPr/>
        </p:nvSpPr>
        <p:spPr>
          <a:xfrm>
            <a:off x="274320" y="118872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5A5E5BE-FF55-8F08-2701-0D5D5BA8A08B}"/>
              </a:ext>
            </a:extLst>
          </p:cNvPr>
          <p:cNvSpPr/>
          <p:nvPr/>
        </p:nvSpPr>
        <p:spPr>
          <a:xfrm>
            <a:off x="41148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Входные данные и результат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FDAB11B-30CA-EC5F-0FA8-0859F3E25CAC}"/>
              </a:ext>
            </a:extLst>
          </p:cNvPr>
          <p:cNvSpPr/>
          <p:nvPr/>
        </p:nvSpPr>
        <p:spPr>
          <a:xfrm>
            <a:off x="320040" y="1664208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A36797E-E674-B54C-8B0E-5758193CDE98}"/>
              </a:ext>
            </a:extLst>
          </p:cNvPr>
          <p:cNvSpPr/>
          <p:nvPr/>
        </p:nvSpPr>
        <p:spPr>
          <a:xfrm>
            <a:off x="41148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Вес: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4884748-A4AC-DE6C-9C58-D841E1A7D459}"/>
              </a:ext>
            </a:extLst>
          </p:cNvPr>
          <p:cNvSpPr/>
          <p:nvPr/>
        </p:nvSpPr>
        <p:spPr>
          <a:xfrm>
            <a:off x="260604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кг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6939D08-ED98-FF3B-CFB2-56EEFEFBF01B}"/>
              </a:ext>
            </a:extLst>
          </p:cNvPr>
          <p:cNvSpPr/>
          <p:nvPr/>
        </p:nvSpPr>
        <p:spPr>
          <a:xfrm>
            <a:off x="320040" y="1965960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6E115F7-FA27-4495-32E5-2B085CDBA397}"/>
              </a:ext>
            </a:extLst>
          </p:cNvPr>
          <p:cNvSpPr/>
          <p:nvPr/>
        </p:nvSpPr>
        <p:spPr>
          <a:xfrm>
            <a:off x="41148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Рост: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7EE3AC-E1DD-D045-2F4A-F07987ACAE71}"/>
              </a:ext>
            </a:extLst>
          </p:cNvPr>
          <p:cNvSpPr/>
          <p:nvPr/>
        </p:nvSpPr>
        <p:spPr>
          <a:xfrm>
            <a:off x="2606040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см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5CEB7D4-4535-306C-4D0F-C6E3C1DB73AF}"/>
              </a:ext>
            </a:extLst>
          </p:cNvPr>
          <p:cNvSpPr/>
          <p:nvPr/>
        </p:nvSpPr>
        <p:spPr>
          <a:xfrm>
            <a:off x="320040" y="2267712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229211C-EFDD-9597-6B15-E63E674479BD}"/>
              </a:ext>
            </a:extLst>
          </p:cNvPr>
          <p:cNvSpPr/>
          <p:nvPr/>
        </p:nvSpPr>
        <p:spPr>
          <a:xfrm>
            <a:off x="411480" y="2276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Пол: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6483DC1-952E-78AC-EA0D-23DB0585D411}"/>
              </a:ext>
            </a:extLst>
          </p:cNvPr>
          <p:cNvSpPr/>
          <p:nvPr/>
        </p:nvSpPr>
        <p:spPr>
          <a:xfrm>
            <a:off x="2606040" y="2276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Мужской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B424D40-AA47-B4D9-5241-E212D5638D9D}"/>
              </a:ext>
            </a:extLst>
          </p:cNvPr>
          <p:cNvSpPr/>
          <p:nvPr/>
        </p:nvSpPr>
        <p:spPr>
          <a:xfrm>
            <a:off x="320040" y="2569464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FF469E3-D8C3-B092-0CFE-B2F1FFDAAF67}"/>
              </a:ext>
            </a:extLst>
          </p:cNvPr>
          <p:cNvSpPr/>
          <p:nvPr/>
        </p:nvSpPr>
        <p:spPr>
          <a:xfrm>
            <a:off x="41148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BMI: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D3E10E7-54F7-D0B4-69A7-DB183AF0D8AC}"/>
              </a:ext>
            </a:extLst>
          </p:cNvPr>
          <p:cNvSpPr/>
          <p:nvPr/>
        </p:nvSpPr>
        <p:spPr>
          <a:xfrm>
            <a:off x="260604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62828E4-B0E5-570E-7C91-09B4B38680CE}"/>
              </a:ext>
            </a:extLst>
          </p:cNvPr>
          <p:cNvSpPr/>
          <p:nvPr/>
        </p:nvSpPr>
        <p:spPr>
          <a:xfrm>
            <a:off x="320040" y="2871216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8C33A90-1749-3C02-E990-273A6D4D74A3}"/>
              </a:ext>
            </a:extLst>
          </p:cNvPr>
          <p:cNvSpPr/>
          <p:nvPr/>
        </p:nvSpPr>
        <p:spPr>
          <a:xfrm>
            <a:off x="4114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Ожидаемая категория: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7A66C21-0295-1B86-7884-507F7E81158E}"/>
              </a:ext>
            </a:extLst>
          </p:cNvPr>
          <p:cNvSpPr/>
          <p:nvPr/>
        </p:nvSpPr>
        <p:spPr>
          <a:xfrm>
            <a:off x="26060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250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0A2E16C-5CB8-3B18-18DA-B93CDDB57AE6}"/>
              </a:ext>
            </a:extLst>
          </p:cNvPr>
          <p:cNvSpPr/>
          <p:nvPr/>
        </p:nvSpPr>
        <p:spPr>
          <a:xfrm>
            <a:off x="320040" y="3172968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C7CD54A-3A87-98B7-D6CD-ABFA9877830C}"/>
              </a:ext>
            </a:extLst>
          </p:cNvPr>
          <p:cNvSpPr/>
          <p:nvPr/>
        </p:nvSpPr>
        <p:spPr>
          <a:xfrm>
            <a:off x="41148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Полученный BMI: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5666749-6246-91AC-81F1-0F34647616F1}"/>
              </a:ext>
            </a:extLst>
          </p:cNvPr>
          <p:cNvSpPr/>
          <p:nvPr/>
        </p:nvSpPr>
        <p:spPr>
          <a:xfrm>
            <a:off x="260604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8EAC667-0C3D-E163-18BA-DC3E81FF6465}"/>
              </a:ext>
            </a:extLst>
          </p:cNvPr>
          <p:cNvSpPr/>
          <p:nvPr/>
        </p:nvSpPr>
        <p:spPr>
          <a:xfrm>
            <a:off x="365760" y="3465576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6D2A978-DE68-0B72-7EF3-6F4E2643CF66}"/>
              </a:ext>
            </a:extLst>
          </p:cNvPr>
          <p:cNvSpPr/>
          <p:nvPr/>
        </p:nvSpPr>
        <p:spPr>
          <a:xfrm>
            <a:off x="411480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Полученная категория: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31B396F-F4AB-101E-C4A2-541E6B97A023}"/>
              </a:ext>
            </a:extLst>
          </p:cNvPr>
          <p:cNvSpPr/>
          <p:nvPr/>
        </p:nvSpPr>
        <p:spPr>
          <a:xfrm>
            <a:off x="2606040" y="3483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250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2307B91-64C8-63EB-617C-20664AEABA9A}"/>
              </a:ext>
            </a:extLst>
          </p:cNvPr>
          <p:cNvSpPr/>
          <p:nvPr/>
        </p:nvSpPr>
        <p:spPr>
          <a:xfrm>
            <a:off x="411480" y="382219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B706D52-4747-5AB4-D66B-51CB2D97CABF}"/>
              </a:ext>
            </a:extLst>
          </p:cNvPr>
          <p:cNvSpPr/>
          <p:nvPr/>
        </p:nvSpPr>
        <p:spPr>
          <a:xfrm>
            <a:off x="411480" y="38221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СТАТУС: ПРОЙДЕН ✓</a:t>
            </a:r>
            <a:endParaRPr lang="en-US" sz="15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E6F62BB-C1EB-D64B-8557-62F9FFDF7EED}"/>
              </a:ext>
            </a:extLst>
          </p:cNvPr>
          <p:cNvSpPr/>
          <p:nvPr/>
        </p:nvSpPr>
        <p:spPr>
          <a:xfrm>
            <a:off x="4663440" y="118872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E8ECF0"/>
          </a:solidFill>
          <a:ln w="12700">
            <a:solidFill>
              <a:srgbClr val="7A8BA0"/>
            </a:solidFill>
            <a:prstDash val="dash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5346B47-51F6-DF32-3C62-AD99D773E914}"/>
              </a:ext>
            </a:extLst>
          </p:cNvPr>
          <p:cNvSpPr/>
          <p:nvPr/>
        </p:nvSpPr>
        <p:spPr>
          <a:xfrm>
            <a:off x="4663440" y="11887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Место для скриншота ]</a:t>
            </a:r>
            <a:endParaRPr lang="en-US" sz="1400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D40183B3-4172-A1AD-2CB8-2CE8CD902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98448"/>
            <a:ext cx="4114800" cy="31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86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51079-6B2C-7765-8D13-9583039B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52A619-2D04-8ADB-4E09-468AEAF20FE5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BB9834-793B-12B2-7DDC-5338DB59BD63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86C165-E700-475F-10EB-051171292846}"/>
              </a:ext>
            </a:extLst>
          </p:cNvPr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#6 —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Обработка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ошибок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1FD1A6-1BF1-A0BA-23CE-2A1C38B80A78}"/>
              </a:ext>
            </a:extLst>
          </p:cNvPr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корректных данных → расчёт и категория «Нормальный вес»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4C9D67E-A40B-8D71-B0B3-9B8A9378055D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72FFF56-6726-B269-A316-1B7F4AB57D80}"/>
              </a:ext>
            </a:extLst>
          </p:cNvPr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0CDABE-A4E1-9044-4EE4-5A21E8845115}"/>
              </a:ext>
            </a:extLst>
          </p:cNvPr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25EFB88-F0A5-96A9-D5D2-8BA863DCA3E0}"/>
              </a:ext>
            </a:extLst>
          </p:cNvPr>
          <p:cNvSpPr/>
          <p:nvPr/>
        </p:nvSpPr>
        <p:spPr>
          <a:xfrm>
            <a:off x="274320" y="118872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D087F51-D3B2-BC43-4FA4-05E71A574309}"/>
              </a:ext>
            </a:extLst>
          </p:cNvPr>
          <p:cNvSpPr/>
          <p:nvPr/>
        </p:nvSpPr>
        <p:spPr>
          <a:xfrm>
            <a:off x="41148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Входные данные и результат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EF38B4E-83DD-22A7-83B1-36B9D415B4AC}"/>
              </a:ext>
            </a:extLst>
          </p:cNvPr>
          <p:cNvSpPr/>
          <p:nvPr/>
        </p:nvSpPr>
        <p:spPr>
          <a:xfrm>
            <a:off x="320040" y="1664208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703F4A5-E653-120E-C32B-D16658CF9157}"/>
              </a:ext>
            </a:extLst>
          </p:cNvPr>
          <p:cNvSpPr/>
          <p:nvPr/>
        </p:nvSpPr>
        <p:spPr>
          <a:xfrm>
            <a:off x="41148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Вес: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1852072-4A49-CFF5-A4B0-AFB439F8EF9E}"/>
              </a:ext>
            </a:extLst>
          </p:cNvPr>
          <p:cNvSpPr/>
          <p:nvPr/>
        </p:nvSpPr>
        <p:spPr>
          <a:xfrm>
            <a:off x="260604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кг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3714284-FC07-0F4A-689A-4FCECC14D86C}"/>
              </a:ext>
            </a:extLst>
          </p:cNvPr>
          <p:cNvSpPr/>
          <p:nvPr/>
        </p:nvSpPr>
        <p:spPr>
          <a:xfrm>
            <a:off x="320040" y="1965960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7B1A174-A80E-FA3D-D739-EB301DC439CB}"/>
              </a:ext>
            </a:extLst>
          </p:cNvPr>
          <p:cNvSpPr/>
          <p:nvPr/>
        </p:nvSpPr>
        <p:spPr>
          <a:xfrm>
            <a:off x="41148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Рост: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73EC995-8193-8F83-3E83-5773AD48F1F3}"/>
              </a:ext>
            </a:extLst>
          </p:cNvPr>
          <p:cNvSpPr/>
          <p:nvPr/>
        </p:nvSpPr>
        <p:spPr>
          <a:xfrm>
            <a:off x="2606040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см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FBDD38B-5988-4306-4AAC-D415E20ACCB6}"/>
              </a:ext>
            </a:extLst>
          </p:cNvPr>
          <p:cNvSpPr/>
          <p:nvPr/>
        </p:nvSpPr>
        <p:spPr>
          <a:xfrm>
            <a:off x="320040" y="2267712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CEEA94C-AD72-0BA5-387A-CEF14F665FE3}"/>
              </a:ext>
            </a:extLst>
          </p:cNvPr>
          <p:cNvSpPr/>
          <p:nvPr/>
        </p:nvSpPr>
        <p:spPr>
          <a:xfrm>
            <a:off x="411480" y="2276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Пол: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BEE8CEC-F8DA-EDC9-A019-AD41C370DF3D}"/>
              </a:ext>
            </a:extLst>
          </p:cNvPr>
          <p:cNvSpPr/>
          <p:nvPr/>
        </p:nvSpPr>
        <p:spPr>
          <a:xfrm>
            <a:off x="2606040" y="2276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Мужской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C994499-3F5D-1101-0D10-90D93AA4AC1D}"/>
              </a:ext>
            </a:extLst>
          </p:cNvPr>
          <p:cNvSpPr/>
          <p:nvPr/>
        </p:nvSpPr>
        <p:spPr>
          <a:xfrm>
            <a:off x="320040" y="2569464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9D5B39C-FED7-7B95-3EA8-637A2FAD32D4}"/>
              </a:ext>
            </a:extLst>
          </p:cNvPr>
          <p:cNvSpPr/>
          <p:nvPr/>
        </p:nvSpPr>
        <p:spPr>
          <a:xfrm>
            <a:off x="41148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BMI: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1450482-8348-E427-C9D6-293C9AF30680}"/>
              </a:ext>
            </a:extLst>
          </p:cNvPr>
          <p:cNvSpPr/>
          <p:nvPr/>
        </p:nvSpPr>
        <p:spPr>
          <a:xfrm>
            <a:off x="260604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F89DCBE-A612-3ECD-0168-E5F2411D17FE}"/>
              </a:ext>
            </a:extLst>
          </p:cNvPr>
          <p:cNvSpPr/>
          <p:nvPr/>
        </p:nvSpPr>
        <p:spPr>
          <a:xfrm>
            <a:off x="320040" y="2871216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22AF3C3-0200-4C0F-07FA-21DE0405942F}"/>
              </a:ext>
            </a:extLst>
          </p:cNvPr>
          <p:cNvSpPr/>
          <p:nvPr/>
        </p:nvSpPr>
        <p:spPr>
          <a:xfrm>
            <a:off x="4114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Ожидаемая категория: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A0C2024-1292-1533-46D7-4EC6FF29E819}"/>
              </a:ext>
            </a:extLst>
          </p:cNvPr>
          <p:cNvSpPr/>
          <p:nvPr/>
        </p:nvSpPr>
        <p:spPr>
          <a:xfrm>
            <a:off x="26060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500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кг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7B5F912-B4E9-57F3-2C95-6E9360E31012}"/>
              </a:ext>
            </a:extLst>
          </p:cNvPr>
          <p:cNvSpPr/>
          <p:nvPr/>
        </p:nvSpPr>
        <p:spPr>
          <a:xfrm>
            <a:off x="320040" y="3172968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68DDCC7-2ADE-8A62-FB78-331A9F8386A6}"/>
              </a:ext>
            </a:extLst>
          </p:cNvPr>
          <p:cNvSpPr/>
          <p:nvPr/>
        </p:nvSpPr>
        <p:spPr>
          <a:xfrm>
            <a:off x="41148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Полученный BMI: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5DA1187-9B92-83ED-FC02-CD34EB012A37}"/>
              </a:ext>
            </a:extLst>
          </p:cNvPr>
          <p:cNvSpPr/>
          <p:nvPr/>
        </p:nvSpPr>
        <p:spPr>
          <a:xfrm>
            <a:off x="260604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BC5F916-1996-5B53-BD3B-41659D390386}"/>
              </a:ext>
            </a:extLst>
          </p:cNvPr>
          <p:cNvSpPr/>
          <p:nvPr/>
        </p:nvSpPr>
        <p:spPr>
          <a:xfrm>
            <a:off x="365760" y="3465576"/>
            <a:ext cx="4023360" cy="29260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AF3AC6C-DC2C-F63E-856A-BBD039193188}"/>
              </a:ext>
            </a:extLst>
          </p:cNvPr>
          <p:cNvSpPr/>
          <p:nvPr/>
        </p:nvSpPr>
        <p:spPr>
          <a:xfrm>
            <a:off x="411480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Полученная категория: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747CE92-F1FF-D0F7-AFAE-9BB32B66D36D}"/>
              </a:ext>
            </a:extLst>
          </p:cNvPr>
          <p:cNvSpPr/>
          <p:nvPr/>
        </p:nvSpPr>
        <p:spPr>
          <a:xfrm>
            <a:off x="2606040" y="3483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500 </a:t>
            </a:r>
            <a:r>
              <a:rPr lang="en-US" sz="10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кг</a:t>
            </a: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2479788-ED9A-70EC-B35C-419F7DBF203C}"/>
              </a:ext>
            </a:extLst>
          </p:cNvPr>
          <p:cNvSpPr/>
          <p:nvPr/>
        </p:nvSpPr>
        <p:spPr>
          <a:xfrm>
            <a:off x="411480" y="382219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B808457-32F7-9469-30E6-03EDE1F932BF}"/>
              </a:ext>
            </a:extLst>
          </p:cNvPr>
          <p:cNvSpPr/>
          <p:nvPr/>
        </p:nvSpPr>
        <p:spPr>
          <a:xfrm>
            <a:off x="411480" y="38221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СТАТУС: ПРОЙДЕН ✓</a:t>
            </a:r>
            <a:endParaRPr lang="en-US" sz="15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F876FC5-A053-B04A-E0B6-FD3A5B1D291C}"/>
              </a:ext>
            </a:extLst>
          </p:cNvPr>
          <p:cNvSpPr/>
          <p:nvPr/>
        </p:nvSpPr>
        <p:spPr>
          <a:xfrm>
            <a:off x="4663440" y="118872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E8ECF0"/>
          </a:solidFill>
          <a:ln w="12700">
            <a:solidFill>
              <a:srgbClr val="7A8BA0"/>
            </a:solidFill>
            <a:prstDash val="dash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DFA6E9D-44B3-C677-9333-4372C1F20A08}"/>
              </a:ext>
            </a:extLst>
          </p:cNvPr>
          <p:cNvSpPr/>
          <p:nvPr/>
        </p:nvSpPr>
        <p:spPr>
          <a:xfrm>
            <a:off x="4663440" y="11887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Место для скриншота ]</a:t>
            </a:r>
            <a:endParaRPr lang="en-US" sz="140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0880AED-3EAB-4E44-3D1A-7AE5DE36C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091" y="1298448"/>
            <a:ext cx="4035149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776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Обработка ошибок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Некорректный ввод: нули, текст, отрицательные значения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859536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25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Входные данные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225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1225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Полученный результат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554480"/>
            <a:ext cx="8595360" cy="47548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09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Вес: 0 кг, Рост: 175 см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609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об ошибке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97880" y="16093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Ошибка: некорректный вес 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66544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Вес: abc, Рост: 175 см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2121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об ошибке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Ошибка: введите числа 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8595360" cy="47548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33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Вес: 70 кг, Рост: 0 см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2633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об ошибке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2633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Ошибка: некорректный рост 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090672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45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Вес: 70 кг, Рост: 300 см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об ошибке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97880" y="3145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Ошибка: рост &gt; 250 см 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8595360" cy="47548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Вес: 600 кг, Рост: 170 см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об ошибке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Ошибка: вес &gt; 500 кг 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33672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2336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 5 граничных случаев обработаны корректно — СТАТУС: ПРОЙДЕН ✓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тестирования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Сводные результаты — все тесты пройдены успешно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тестирования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2618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74320" y="1901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Всего тестов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188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3160" y="12618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423160" y="1901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12618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572000" y="1901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Провалено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1188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2618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A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720840" y="1901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успеха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54203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42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" y="24871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нормального BMI (70 кг, 175 см → 22.9 ✓)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54203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542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56632" y="24871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BMI при ожирении (120 кг, 170 см → 41.5 ✓)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95351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95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28986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Недостаточный вес (45 кг, 165 см → 16.6 ✓)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95351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5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56632" y="28986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нулевого веса → сообщение об ошибке ✓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36499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364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" y="3310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текста → сообщение об ошибке ✓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36499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364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56632" y="3310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всех полей (кнопка + Escape) ✓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" y="377647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776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" y="37216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Копирование результата в буфер ✓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377647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776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56632" y="37216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Граничные значения (вес 1 кг, рост 250 см) ✓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34340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3434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СТАТУС ПРИЛОЖЕНИЯ: ГОТОВО К ИСПОЛЬЗОВАНИЮ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Сравнительный анализ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BMI Калькулятор vs аналоги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Сравнительный анализ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859536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0700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50592" y="120700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Web-сервисы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81144" y="120700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Мобильные приложения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11696" y="120700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BMI Калькулятор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536192"/>
            <a:ext cx="8595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57276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50592" y="157276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(онлайн)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81144" y="157276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/ Android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11696" y="157276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Десктоп (офлайн)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929384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96596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 / стек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50592" y="196596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/ HTML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81144" y="196596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/ Kotlin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11696" y="196596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 + Tkinter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322576"/>
            <a:ext cx="8595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35915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50592" y="235915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81144" y="235915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нужен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11696" y="235915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нужен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715768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75234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Визуальная шкала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50592" y="275234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81144" y="275234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Частично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11696" y="275234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(Canvas)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108960"/>
            <a:ext cx="8595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14553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код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50592" y="314553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81144" y="314553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11696" y="314553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502152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53872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Комментарии к коду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450592" y="353872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81144" y="353872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11696" y="353872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(каждая строка)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895344"/>
            <a:ext cx="8595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93192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цели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450592" y="393192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81144" y="393192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11696" y="393192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288536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32511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зависимостей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450592" y="432511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(браузер)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81144" y="432511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(iOS/Android SDK)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11696" y="432511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(stdlib only)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D7E8A">
              <a:alpha val="20000"/>
            </a:srgbClr>
          </a:solidFill>
          <a:ln w="12700">
            <a:solidFill>
              <a:srgbClr val="0D7E8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D4A830">
              <a:alpha val="15000"/>
            </a:srgbClr>
          </a:solidFill>
          <a:ln w="12700">
            <a:solidFill>
              <a:srgbClr val="D4A83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15568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789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Разработан BMI Калькулятор с GUI на Python 3.11 + Tkinter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517904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813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Реализованы все 8 функциональных требований: расчёт, шкала, категории, меню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8366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7 категорий BMI согласно стандартам ВОЗ с цветовой индикацией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22576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860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Деление на ноль и некорректный ввод обрабатываются корректно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724912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6883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Горячие клавиши Enter / Escape — удобное управление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127248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90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Каждая строка кода прокомментирована на русском языке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529584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4930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Проведено тестирование: 8 / 8 тест-кейсов пройдено — 100%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931920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953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Критических ошибок не обнаружено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Жумабеков Бакай  ·  Программная инженерия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1729</Words>
  <Application>Microsoft Office PowerPoint</Application>
  <PresentationFormat>Экран (16:9)</PresentationFormat>
  <Paragraphs>408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BMI Калькулятор — Программная инженерия</dc:title>
  <dc:subject>PptxGenJS Presentation</dc:subject>
  <dc:creator>Жумабеков Бакай</dc:creator>
  <cp:lastModifiedBy>Fayzullo</cp:lastModifiedBy>
  <cp:revision>4</cp:revision>
  <dcterms:created xsi:type="dcterms:W3CDTF">2026-06-16T03:17:50Z</dcterms:created>
  <dcterms:modified xsi:type="dcterms:W3CDTF">2026-06-16T04:24:02Z</dcterms:modified>
</cp:coreProperties>
</file>